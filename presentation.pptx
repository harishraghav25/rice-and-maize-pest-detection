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914400"/>
            <a:ext cx="9448495" cy="5029200"/>
          </a:xfrm>
          <a:prstGeom prst="roundRect">
            <a:avLst/>
          </a:prstGeom>
          <a:solidFill>
            <a:srgbClr val="1B5E20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371600"/>
            <a:ext cx="85340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Arial"/>
              </a:defRPr>
            </a:pPr>
            <a:r>
              <a:t>A Comparative Evaluation of YOLO11s and YOLO26s for Tiny Pest and Disease Detection in Rice and Maize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85340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800">
                <a:solidFill>
                  <a:srgbClr val="C8E6C9"/>
                </a:solidFill>
                <a:latin typeface="Arial"/>
              </a:defRPr>
            </a:pPr>
            <a:r>
              <a:t>Course Code &amp; Title: CS3711 Summer Internship</a:t>
            </a:r>
          </a:p>
          <a:p>
            <a:pPr algn="ctr">
              <a:spcAft>
                <a:spcPts val="800"/>
              </a:spcAft>
              <a:defRPr sz="1800">
                <a:solidFill>
                  <a:srgbClr val="C8E6C9"/>
                </a:solidFill>
                <a:latin typeface="Arial"/>
              </a:defRPr>
            </a:pPr>
            <a:r>
              <a:t>Student Name: [Your Name]   |   Reg No: [Your Register Number]</a:t>
            </a:r>
          </a:p>
          <a:p>
            <a:pPr algn="ctr">
              <a:spcAft>
                <a:spcPts val="800"/>
              </a:spcAft>
              <a:defRPr sz="1800">
                <a:solidFill>
                  <a:srgbClr val="C8E6C9"/>
                </a:solidFill>
                <a:latin typeface="Arial"/>
              </a:defRPr>
            </a:pPr>
            <a:r>
              <a:t>Department: Computer Science and Engineering, Section: [Section]</a:t>
            </a:r>
          </a:p>
          <a:p>
            <a:pPr algn="ctr">
              <a:spcAft>
                <a:spcPts val="800"/>
              </a:spcAft>
              <a:defRPr sz="1800">
                <a:solidFill>
                  <a:srgbClr val="C8E6C9"/>
                </a:solidFill>
                <a:latin typeface="Arial"/>
              </a:defRPr>
            </a:pPr>
            <a:r>
              <a:t>Organization: ICAR - Indian Council of Agricultural Research</a:t>
            </a:r>
          </a:p>
          <a:p>
            <a:pPr algn="ctr">
              <a:spcAft>
                <a:spcPts val="800"/>
              </a:spcAft>
              <a:defRPr sz="1800">
                <a:solidFill>
                  <a:srgbClr val="C8E6C9"/>
                </a:solidFill>
                <a:latin typeface="Arial"/>
              </a:defRPr>
            </a:pPr>
            <a:r>
              <a:t>Duration: Summer 2026 (4-6 Weeks)   |   Mode: Hybrid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Company / Organization 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8200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Organization Name: ICAR (Indian Council of Agricultural Research)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Type of Organization: Public Agriculture &amp; Academic Research Institute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Location: New Delhi (Regional Stations and partner universities nationwide)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Main Area of Work: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Coordinating, guiding, and managing research and education in agriculture.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Driving modernization in horticulture, fisheries, and animal sciences.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Relevance to Computing Domain: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Implements Smart Agriculture via Computer Vision, IoT Sensors, and drone imagery.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Develops deep learning classifiers to automate disease diagnostics for rural farmers.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Internship Domain as per CS3711 Syllabus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8200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Primary Syllabus Domain: Research Work &amp; Software Design &amp; Development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Machine Learning &amp; Computer Vision Core Focus: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Deep learning object detection using YOLOv11 and YOLOv26 architectures.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Utilizing Python (PyTorch, OpenCV, Pillow) for crop leaf analysis.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Connection to Computer Science and Engineering: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Data Engineering: Automated formatting of raw images to YOLO txt files.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Software Design: Writing modular, robust scripts for training and evaluations.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Automation: Implementing slicing algorithms to process high-resolution drone field photos.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Project Title and 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8200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Project Title: A Comparative Evaluation of YOLO11s and YOLO26s for Tiny Pest and Disease Detection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The Problem Identified: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Crops are heavily affected by tiny pests (aphids, stem borers) and diseases (smut, blight).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Pests like aphids are microscopic (less than 0.1% of high-res image space), making standard YOLO fail.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Need for the Project: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Manual agricultural scanning is labor-intensive, slow, and highly subjective.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Objective of the Project: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Train and compare YOLOv11s and YOLOv26s models on localized pest datasets.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Implement a Tiled Validation Algorithm to verify bounding boxes on correct local areas.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Task Assigned and Role in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8200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Assigned Role: Machine Learning &amp; Research Trainee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Team Structure: Individual researcher collaborating with agricultural advisors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Individual Contribution: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Structured raw imagery directories into split train/validation detection datasets.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Integrated a custom Tiled/Sliced Validation Pipeline in python (calculating IoU, NMS, and AP).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Ran CUDA-accelerated GPU training runs for both architectures.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Documented training metrics and comparative validation logs.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Tools, Technologies and Platforms 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8200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Programming Languages: Python 3.12 (Pillow, PyYAML, NumPy)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Deep Learning Framework: PyTorch, Ultralytics YOLO (v11 and v26)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Development Tools: VS Code, Git, GitHub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Database/Dataset: Structured YOLO directory annotations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Hardware &amp; Platform: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OS: Windows 11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GPU Acceleration: NVIDIA GeForce RTX 4050 Laptop GPU (6GB VRAM) with CUDA 12.8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Work Carried Out /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8200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Phase 1: Dataset Formatting &amp; Preparation: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Automated script mapping class folders to structured YOLO datasets.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Phase 2: Model Configuration &amp; Training: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Loaded pretrained models and trained on GPU for 150 epochs.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Phase 3: Sliced/Tiled Validation Algorithm: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Slices validation images into 1280x1280 overlapping crops.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Runs inference on each tile and translates bounding boxes back to global coordinates.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Applies Non-Maximum Suppression (NMS) to merge overlapping predictions.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Calculates Average Precision (AP), Precision, Recall, and F1-Scores.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Output / Screenshots /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8200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Model Comparison Benchmark Results (RTX 4050 GPU):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YOLO11s (Parameters: 9.46M | Latency: 147.65 ms | Detections: 0)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YOLO26s (Parameters: 9.96M | Latency: 170.79 ms | Detections: 2)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Tiled Validation Results (YOLO26s):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Setting validation confidence threshold to 0.001 enabled proper PR curve logic.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Overall Tiled Recall achieved 24.00% (localizing correct leaf regions).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Class 'rice_disease_leaf_sheath_blight' achieved 6.31% mAP and 80.00% Recall.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Standard Validation Results (Full-Frame Baseline):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YOLO26s Model achieved 56.84% mAP@50, 34.43% Precision, and 68.21% Recall.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Learning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8200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Practical Deep Learning Pipeline Execution: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Gained hands-on knowledge in data engineering, training iterations, and validations.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Understanding Bounding Box Scaling Challenges: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Learned how to address small object detection limitations using tiling (SAHI).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Custom Mathematical Logic Implementation: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Implemented IoU computations, NMS box merging, and AP integration in pure Python.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Professional Engineering Discipline: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Mastered Git version control and GitHub remote repository pushes.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Conclusion and Proof of Internship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5E20"/>
          </a:solidFill>
          <a:ln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8200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Conclusion: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Sliced validation is essential for realistic evaluation of microscopic crop pests.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YOLO26s shows good localization and class representation when scaled appropriately.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Future Scope: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Optimize the tiled model weights for deployment to mobile phones or agricultural drones.</a:t>
            </a:r>
          </a:p>
          <a:p>
            <a:pPr>
              <a:spcAft>
                <a:spcPts val="1400"/>
              </a:spcAft>
              <a:defRPr sz="2400" b="1">
                <a:solidFill>
                  <a:srgbClr val="212121"/>
                </a:solidFill>
                <a:latin typeface="Arial"/>
              </a:defRPr>
            </a:pPr>
            <a:r>
              <a:t>• Proof of Internship / Code Repository: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GitHub Repository: https://github.com/HarishRaghav25/Rice-and-Maize-pest-detection</a:t>
            </a:r>
          </a:p>
          <a:p>
            <a:pPr lvl="1">
              <a:spcAft>
                <a:spcPts val="1400"/>
              </a:spcAft>
              <a:defRPr sz="2000">
                <a:solidFill>
                  <a:srgbClr val="757575"/>
                </a:solidFill>
                <a:latin typeface="Arial"/>
              </a:defRPr>
            </a:pPr>
            <a:r>
              <a:t>  • [Placeholder: Insert scan/screenshot of Internship Certificate or Offer 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